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F3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38648" y="1645920"/>
            <a:ext cx="914400" cy="914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2743200"/>
            <a:ext cx="1219169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RuriSkry</a:t>
            </a:r>
            <a:endParaRPr lang="en-US" sz="7200" dirty="0"/>
          </a:p>
        </p:txBody>
      </p:sp>
      <p:sp>
        <p:nvSpPr>
          <p:cNvPr id="4" name="Text 1"/>
          <p:cNvSpPr/>
          <p:nvPr/>
        </p:nvSpPr>
        <p:spPr>
          <a:xfrm>
            <a:off x="0" y="3840480"/>
            <a:ext cx="1219169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AI Change Advisory Board</a:t>
            </a:r>
            <a:endParaRPr lang="en-US" sz="2600" dirty="0"/>
          </a:p>
          <a:p>
            <a:pPr algn="ctr" indent="0" marL="0">
              <a:buNone/>
            </a:pPr>
            <a:r>
              <a:rPr lang="en-US" sz="2600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Autonomous Cloud Agents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0" y="5669280"/>
            <a:ext cx="12191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Azure-native · Open source · Production-grade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76072"/>
            <a:ext cx="100584" cy="676656"/>
          </a:xfrm>
          <a:prstGeom prst="rect">
            <a:avLst/>
          </a:prstGeom>
          <a:solidFill>
            <a:srgbClr val="2F3E46"/>
          </a:solidFill>
          <a:ln w="12700">
            <a:solidFill>
              <a:srgbClr val="2F3E4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50292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emerging risk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64465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RuriSkry · Confidential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185855" y="64465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AI agents are now making infrastructure decisions at enterprise scale — with only capability controls (IAM, scopes) and no judgment layer.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80848" y="2743200"/>
            <a:ext cx="3657600" cy="2377440"/>
          </a:xfrm>
          <a:prstGeom prst="rect">
            <a:avLst/>
          </a:prstGeom>
          <a:solidFill>
            <a:srgbClr val="E9E9E4"/>
          </a:solidFill>
          <a:ln w="12700">
            <a:solidFill>
              <a:srgbClr val="E9E9E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80848" y="2743200"/>
            <a:ext cx="73152" cy="2377440"/>
          </a:xfrm>
          <a:prstGeom prst="rect">
            <a:avLst/>
          </a:prstGeom>
          <a:solidFill>
            <a:srgbClr val="2F3E46"/>
          </a:solidFill>
          <a:ln w="12700">
            <a:solidFill>
              <a:srgbClr val="2F3E46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0888" y="3063240"/>
            <a:ext cx="548640" cy="5486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00888" y="37033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Cost agent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700888" y="420624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Deletes a DR VM to save $847/mo — without seeing the compliance tag that made it untouchable.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267048" y="2743200"/>
            <a:ext cx="3657600" cy="2377440"/>
          </a:xfrm>
          <a:prstGeom prst="rect">
            <a:avLst/>
          </a:prstGeom>
          <a:solidFill>
            <a:srgbClr val="E9E9E4"/>
          </a:solidFill>
          <a:ln w="12700">
            <a:solidFill>
              <a:srgbClr val="E9E9E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267048" y="2743200"/>
            <a:ext cx="73152" cy="2377440"/>
          </a:xfrm>
          <a:prstGeom prst="rect">
            <a:avLst/>
          </a:prstGeom>
          <a:solidFill>
            <a:srgbClr val="2F3E46"/>
          </a:solidFill>
          <a:ln w="12700">
            <a:solidFill>
              <a:srgbClr val="2F3E46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7088" y="3063240"/>
            <a:ext cx="548640" cy="54864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587088" y="37033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SRE agent</a:t>
            </a:r>
            <a:endParaRPr lang="en-US" sz="2000" dirty="0"/>
          </a:p>
        </p:txBody>
      </p:sp>
      <p:sp>
        <p:nvSpPr>
          <p:cNvPr id="16" name="Text 12"/>
          <p:cNvSpPr/>
          <p:nvPr/>
        </p:nvSpPr>
        <p:spPr>
          <a:xfrm>
            <a:off x="4587088" y="420624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Restarts a payment service — unaware that identical restarts triggered cascade failures three times before.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8153248" y="2743200"/>
            <a:ext cx="3657600" cy="2377440"/>
          </a:xfrm>
          <a:prstGeom prst="rect">
            <a:avLst/>
          </a:prstGeom>
          <a:solidFill>
            <a:srgbClr val="E9E9E4"/>
          </a:solidFill>
          <a:ln w="12700">
            <a:solidFill>
              <a:srgbClr val="E9E9E4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153248" y="2743200"/>
            <a:ext cx="73152" cy="2377440"/>
          </a:xfrm>
          <a:prstGeom prst="rect">
            <a:avLst/>
          </a:prstGeom>
          <a:solidFill>
            <a:srgbClr val="2F3E46"/>
          </a:solidFill>
          <a:ln w="12700">
            <a:solidFill>
              <a:srgbClr val="2F3E46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3288" y="3063240"/>
            <a:ext cx="548640" cy="54864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473288" y="37033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Deployment agent</a:t>
            </a:r>
            <a:endParaRPr lang="en-US" sz="2000" dirty="0"/>
          </a:p>
        </p:txBody>
      </p:sp>
      <p:sp>
        <p:nvSpPr>
          <p:cNvPr id="21" name="Text 16"/>
          <p:cNvSpPr/>
          <p:nvPr/>
        </p:nvSpPr>
        <p:spPr>
          <a:xfrm>
            <a:off x="8473288" y="420624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a network port — inadvertently exposing internal admin dashboards to the public internet.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548640" y="54864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Nobody today asks the judgment question before the agent acts.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76072"/>
            <a:ext cx="100584" cy="676656"/>
          </a:xfrm>
          <a:prstGeom prst="rect">
            <a:avLst/>
          </a:prstGeom>
          <a:solidFill>
            <a:srgbClr val="2F3E46"/>
          </a:solidFill>
          <a:ln w="12700">
            <a:solidFill>
              <a:srgbClr val="2F3E4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50292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Guardrails are not governance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64465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RuriSkry · Confidential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185855" y="64465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00888" y="1737360"/>
            <a:ext cx="5212080" cy="4023360"/>
          </a:xfrm>
          <a:prstGeom prst="rect">
            <a:avLst/>
          </a:prstGeom>
          <a:solidFill>
            <a:srgbClr val="E9E9E4"/>
          </a:solidFill>
          <a:ln w="12700">
            <a:solidFill>
              <a:srgbClr val="E9E9E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648" y="205740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66648" y="27889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Guardrails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1066648" y="33375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 the agent do this?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066648" y="3886200"/>
            <a:ext cx="4480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roles, token scopes, deny-lists, rate limits.</a:t>
            </a:r>
            <a:endParaRPr lang="en-US" sz="1500" dirty="0"/>
          </a:p>
          <a:p>
            <a:pPr algn="l" indent="0" marL="0">
              <a:buNone/>
            </a:pPr>
            <a:r>
              <a:rPr lang="en-US" sz="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major cloud ships them.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278728" y="1737360"/>
            <a:ext cx="5212080" cy="4023360"/>
          </a:xfrm>
          <a:prstGeom prst="rect">
            <a:avLst/>
          </a:prstGeom>
          <a:solidFill>
            <a:srgbClr val="2F3E46"/>
          </a:solidFill>
          <a:ln w="12700">
            <a:solidFill>
              <a:srgbClr val="2F3E46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4488" y="2057400"/>
            <a:ext cx="640080" cy="6400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644488" y="27889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Governance</a:t>
            </a:r>
            <a:endParaRPr lang="en-US" sz="2400" dirty="0"/>
          </a:p>
        </p:txBody>
      </p:sp>
      <p:sp>
        <p:nvSpPr>
          <p:cNvPr id="14" name="Text 10"/>
          <p:cNvSpPr/>
          <p:nvPr/>
        </p:nvSpPr>
        <p:spPr>
          <a:xfrm>
            <a:off x="6644488" y="33375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Should the agent do this — right now, on this resource?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644488" y="3886200"/>
            <a:ext cx="4480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Blast radius. Policy fit. Precedent. Cost. Evidence quality.</a:t>
            </a:r>
            <a:endParaRPr lang="en-US" sz="1500" dirty="0"/>
          </a:p>
          <a:p>
            <a:pPr algn="l" indent="0" marL="0">
              <a:buNone/>
            </a:pPr>
            <a:r>
              <a:rPr lang="en-US" sz="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nobody ships them.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Most AI-agent tooling stops at guardrails. The judgment layer is missing.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76072"/>
            <a:ext cx="100584" cy="676656"/>
          </a:xfrm>
          <a:prstGeom prst="rect">
            <a:avLst/>
          </a:prstGeom>
          <a:solidFill>
            <a:srgbClr val="2F3E46"/>
          </a:solidFill>
          <a:ln w="12700">
            <a:solidFill>
              <a:srgbClr val="2F3E4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50292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pattern that already works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64465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RuriSkry · Confidential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185855" y="64465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mature enterprise routes production change through a Change Advisory Board. A senior reviewer checks:</a:t>
            </a:r>
            <a:endParaRPr lang="en-US" sz="16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423160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63040" y="233172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Blast radius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4114800" y="2331720"/>
            <a:ext cx="75282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breaks if this goes wrong?</a:t>
            </a:r>
            <a:endParaRPr lang="en-US" sz="15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090672"/>
            <a:ext cx="457200" cy="4572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63040" y="2999232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Policy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4114800" y="2999232"/>
            <a:ext cx="75282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this violate compliance or internal standard?</a:t>
            </a:r>
            <a:endParaRPr lang="en-US" sz="150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758184"/>
            <a:ext cx="457200" cy="4572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463040" y="3666744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Precedent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4114800" y="3666744"/>
            <a:ext cx="75282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this pattern failed before?</a:t>
            </a:r>
            <a:endParaRPr lang="en-US" sz="15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425696"/>
            <a:ext cx="457200" cy="45720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463040" y="4334256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Cost</a:t>
            </a:r>
            <a:endParaRPr lang="en-US" sz="1800" dirty="0"/>
          </a:p>
        </p:txBody>
      </p:sp>
      <p:sp>
        <p:nvSpPr>
          <p:cNvPr id="18" name="Text 12"/>
          <p:cNvSpPr/>
          <p:nvPr/>
        </p:nvSpPr>
        <p:spPr>
          <a:xfrm>
            <a:off x="4114800" y="4334256"/>
            <a:ext cx="75282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this change financially sane?</a:t>
            </a:r>
            <a:endParaRPr lang="en-US" sz="1500" dirty="0"/>
          </a:p>
        </p:txBody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5093208"/>
            <a:ext cx="457200" cy="45720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463040" y="5001768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Conditions</a:t>
            </a:r>
            <a:endParaRPr lang="en-US" sz="1800" dirty="0"/>
          </a:p>
        </p:txBody>
      </p:sp>
      <p:sp>
        <p:nvSpPr>
          <p:cNvPr id="21" name="Text 14"/>
          <p:cNvSpPr/>
          <p:nvPr/>
        </p:nvSpPr>
        <p:spPr>
          <a:xfrm>
            <a:off x="4114800" y="5001768"/>
            <a:ext cx="75282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window, canary rollout, rollback pre-staged.</a:t>
            </a:r>
            <a:endParaRPr lang="en-US" sz="1500" dirty="0"/>
          </a:p>
        </p:txBody>
      </p:sp>
      <p:sp>
        <p:nvSpPr>
          <p:cNvPr id="22" name="Text 15"/>
          <p:cNvSpPr/>
          <p:nvPr/>
        </p:nvSpPr>
        <p:spPr>
          <a:xfrm>
            <a:off x="548640" y="58521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if every AI-agent action went through the same review — automatically, in seconds, before reaching Azure?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F3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645920"/>
            <a:ext cx="121916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i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RuriSkry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0" y="2834640"/>
            <a:ext cx="1219169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agents propose the fix.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0" y="3886200"/>
            <a:ext cx="1219169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AI Change Advisory Board decides if it ships.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022696" y="5212080"/>
            <a:ext cx="146304" cy="14630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76072"/>
            <a:ext cx="100584" cy="676656"/>
          </a:xfrm>
          <a:prstGeom prst="rect">
            <a:avLst/>
          </a:prstGeom>
          <a:solidFill>
            <a:srgbClr val="2F3E46"/>
          </a:solidFill>
          <a:ln w="12700">
            <a:solidFill>
              <a:srgbClr val="2F3E4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50292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systems, one platform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64465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RuriSkry · Confidential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185855" y="64465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agents supply the changes. The CAB decides whether they ship.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377440"/>
            <a:ext cx="5090008" cy="3657600"/>
          </a:xfrm>
          <a:prstGeom prst="rect">
            <a:avLst/>
          </a:prstGeom>
          <a:solidFill>
            <a:srgbClr val="E9E9E4"/>
          </a:solidFill>
          <a:ln w="12700">
            <a:solidFill>
              <a:srgbClr val="E9E9E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651760"/>
            <a:ext cx="4358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Ops Agents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914400" y="3108960"/>
            <a:ext cx="4358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proposers</a:t>
            </a:r>
            <a:endParaRPr lang="en-US" sz="13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3657600"/>
            <a:ext cx="365760" cy="3657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463040" y="3611880"/>
            <a:ext cx="3809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Monitoring Agent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1463040" y="3931920"/>
            <a:ext cx="3809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 health, alerts, observability gaps</a:t>
            </a:r>
            <a:endParaRPr lang="en-US" sz="12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43484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463040" y="4389120"/>
            <a:ext cx="3809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Cost Agent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1463040" y="4709160"/>
            <a:ext cx="3809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Waste, orphaned disks, over-provisioning</a:t>
            </a:r>
            <a:endParaRPr lang="en-US" sz="12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212080"/>
            <a:ext cx="365760" cy="36576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63040" y="5166360"/>
            <a:ext cx="3809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 Agent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1463040" y="5486400"/>
            <a:ext cx="3809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posture, NSG rules, compliance</a:t>
            </a:r>
            <a:endParaRPr lang="en-US" sz="120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248" y="3977640"/>
            <a:ext cx="457200" cy="457200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6553048" y="2377440"/>
            <a:ext cx="5090008" cy="3657600"/>
          </a:xfrm>
          <a:prstGeom prst="rect">
            <a:avLst/>
          </a:prstGeom>
          <a:solidFill>
            <a:srgbClr val="2F3E46"/>
          </a:solidFill>
          <a:ln w="12700">
            <a:solidFill>
              <a:srgbClr val="2F3E46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6918808" y="2651760"/>
            <a:ext cx="4358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CAB</a:t>
            </a:r>
            <a:endParaRPr lang="en-US" sz="2200" dirty="0"/>
          </a:p>
        </p:txBody>
      </p:sp>
      <p:sp>
        <p:nvSpPr>
          <p:cNvPr id="22" name="Text 16"/>
          <p:cNvSpPr/>
          <p:nvPr/>
        </p:nvSpPr>
        <p:spPr>
          <a:xfrm>
            <a:off x="6918808" y="3108960"/>
            <a:ext cx="4358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adjudicators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6964528" y="3776472"/>
            <a:ext cx="137160" cy="1371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7284568" y="3611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Blast Radius</a:t>
            </a:r>
            <a:endParaRPr lang="en-US" sz="1500" dirty="0"/>
          </a:p>
        </p:txBody>
      </p:sp>
      <p:sp>
        <p:nvSpPr>
          <p:cNvPr id="25" name="Text 19"/>
          <p:cNvSpPr/>
          <p:nvPr/>
        </p:nvSpPr>
        <p:spPr>
          <a:xfrm>
            <a:off x="9387688" y="3611880"/>
            <a:ext cx="1889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 impact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6964528" y="4325112"/>
            <a:ext cx="137160" cy="1371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7284568" y="41605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Policy</a:t>
            </a:r>
            <a:endParaRPr lang="en-US" sz="1500" dirty="0"/>
          </a:p>
        </p:txBody>
      </p:sp>
      <p:sp>
        <p:nvSpPr>
          <p:cNvPr id="28" name="Text 22"/>
          <p:cNvSpPr/>
          <p:nvPr/>
        </p:nvSpPr>
        <p:spPr>
          <a:xfrm>
            <a:off x="9387688" y="4160520"/>
            <a:ext cx="1889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compliance</a:t>
            </a:r>
            <a:endParaRPr lang="en-US" sz="1200" dirty="0"/>
          </a:p>
        </p:txBody>
      </p:sp>
      <p:sp>
        <p:nvSpPr>
          <p:cNvPr id="29" name="Shape 23"/>
          <p:cNvSpPr/>
          <p:nvPr/>
        </p:nvSpPr>
        <p:spPr>
          <a:xfrm>
            <a:off x="6964528" y="4873752"/>
            <a:ext cx="137160" cy="1371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7284568" y="47091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Historical</a:t>
            </a:r>
            <a:endParaRPr lang="en-US" sz="1500" dirty="0"/>
          </a:p>
        </p:txBody>
      </p:sp>
      <p:sp>
        <p:nvSpPr>
          <p:cNvPr id="31" name="Text 25"/>
          <p:cNvSpPr/>
          <p:nvPr/>
        </p:nvSpPr>
        <p:spPr>
          <a:xfrm>
            <a:off x="9387688" y="4709160"/>
            <a:ext cx="1889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precedent</a:t>
            </a:r>
            <a:endParaRPr lang="en-US" sz="1200" dirty="0"/>
          </a:p>
        </p:txBody>
      </p:sp>
      <p:sp>
        <p:nvSpPr>
          <p:cNvPr id="32" name="Shape 26"/>
          <p:cNvSpPr/>
          <p:nvPr/>
        </p:nvSpPr>
        <p:spPr>
          <a:xfrm>
            <a:off x="6964528" y="5422392"/>
            <a:ext cx="137160" cy="1371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3" name="Text 27"/>
          <p:cNvSpPr/>
          <p:nvPr/>
        </p:nvSpPr>
        <p:spPr>
          <a:xfrm>
            <a:off x="7284568" y="52578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Financial</a:t>
            </a:r>
            <a:endParaRPr lang="en-US" sz="1500" dirty="0"/>
          </a:p>
        </p:txBody>
      </p:sp>
      <p:sp>
        <p:nvSpPr>
          <p:cNvPr id="34" name="Text 28"/>
          <p:cNvSpPr/>
          <p:nvPr/>
        </p:nvSpPr>
        <p:spPr>
          <a:xfrm>
            <a:off x="9387688" y="5257800"/>
            <a:ext cx="1889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volatility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76072"/>
            <a:ext cx="100584" cy="676656"/>
          </a:xfrm>
          <a:prstGeom prst="rect">
            <a:avLst/>
          </a:prstGeom>
          <a:solidFill>
            <a:srgbClr val="2F3E46"/>
          </a:solidFill>
          <a:ln w="12700">
            <a:solidFill>
              <a:srgbClr val="2F3E4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50292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SRI™ framework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64465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RuriSkry · Confidential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185855" y="64465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independent dimensions. One weighted composite. One defensible verdict.</a:t>
            </a:r>
            <a:endParaRPr lang="en-US" sz="1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8600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943600"/>
                <a:gridCol w="2743200"/>
              </a:tblGrid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Dimension</a:t>
                      </a:r>
                      <a:endParaRPr lang="en-US" sz="14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F3E4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What it measures</a:t>
                      </a:r>
                      <a:endParaRPr lang="en-US" sz="14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F3E4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Producing agent</a:t>
                      </a:r>
                      <a:endParaRPr lang="en-US" sz="14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F3E46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SRI:Infrastructure</a:t>
                      </a:r>
                      <a:endParaRPr lang="en-US" sz="14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E9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Blast radius — downstream services, SPOFs, availability zones affected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E9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Blast Radius Agent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E9E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SRI:Policy</a:t>
                      </a:r>
                      <a:endParaRPr lang="en-US" sz="14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Governance compliance — policy match + severity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Policy Agent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5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SRI:Historical</a:t>
                      </a:r>
                      <a:endParaRPr lang="en-US" sz="14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E9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Precedent — BM25-ranked similarity to past incidents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E9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Historical Agent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E9E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SRI:Cost</a:t>
                      </a:r>
                      <a:endParaRPr lang="en-US" sz="14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Financial volatility — projected monthly cost delta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Financial Agent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48640" y="58978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verdict is reconstructable from its inputs. Every score is auditable.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76072"/>
            <a:ext cx="100584" cy="676656"/>
          </a:xfrm>
          <a:prstGeom prst="rect">
            <a:avLst/>
          </a:prstGeom>
          <a:solidFill>
            <a:srgbClr val="2F3E46"/>
          </a:solidFill>
          <a:ln w="12700">
            <a:solidFill>
              <a:srgbClr val="2F3E4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50292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decision surface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64465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RuriSkry · Confidential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185855" y="64465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rules first. The LLM adjusts within a bounded ±30 range — with a guardrail that prevents model drift from ever dominating the verdict.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514600"/>
            <a:ext cx="11094415" cy="1051560"/>
          </a:xfrm>
          <a:prstGeom prst="rect">
            <a:avLst/>
          </a:prstGeom>
          <a:solidFill>
            <a:srgbClr val="E9E9E4"/>
          </a:solidFill>
          <a:ln w="12700">
            <a:solidFill>
              <a:srgbClr val="E9E9E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514600"/>
            <a:ext cx="137160" cy="1051560"/>
          </a:xfrm>
          <a:prstGeom prst="rect">
            <a:avLst/>
          </a:prstGeom>
          <a:solidFill>
            <a:srgbClr val="3F6B4E"/>
          </a:solidFill>
          <a:ln w="12700">
            <a:solidFill>
              <a:srgbClr val="3F6B4E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788920"/>
            <a:ext cx="502920" cy="5029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645920" y="26517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F6B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APPROVED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164592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SRI ≤ 25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023360" y="2514600"/>
            <a:ext cx="74368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HIGH / CRITICAL violation · Cleared for execution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48640" y="3703320"/>
            <a:ext cx="11094415" cy="1051560"/>
          </a:xfrm>
          <a:prstGeom prst="rect">
            <a:avLst/>
          </a:prstGeom>
          <a:solidFill>
            <a:srgbClr val="E9E9E4"/>
          </a:solidFill>
          <a:ln w="12700">
            <a:solidFill>
              <a:srgbClr val="E9E9E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48640" y="3703320"/>
            <a:ext cx="137160" cy="1051560"/>
          </a:xfrm>
          <a:prstGeom prst="rect">
            <a:avLst/>
          </a:prstGeom>
          <a:solidFill>
            <a:srgbClr val="B88A2E"/>
          </a:solidFill>
          <a:ln w="12700">
            <a:solidFill>
              <a:srgbClr val="B88A2E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977640"/>
            <a:ext cx="502920" cy="50292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645920" y="38404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B88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ESCALATED</a:t>
            </a:r>
            <a:endParaRPr lang="en-US" sz="2000" dirty="0"/>
          </a:p>
        </p:txBody>
      </p:sp>
      <p:sp>
        <p:nvSpPr>
          <p:cNvPr id="17" name="Text 13"/>
          <p:cNvSpPr/>
          <p:nvPr/>
        </p:nvSpPr>
        <p:spPr>
          <a:xfrm>
            <a:off x="1645920" y="4251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SRI 26 – 60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4023360" y="3703320"/>
            <a:ext cx="74368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…or any HIGH violation · Human review required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548640" y="4892040"/>
            <a:ext cx="11094415" cy="1051560"/>
          </a:xfrm>
          <a:prstGeom prst="rect">
            <a:avLst/>
          </a:prstGeom>
          <a:solidFill>
            <a:srgbClr val="E9E9E4"/>
          </a:solidFill>
          <a:ln w="12700">
            <a:solidFill>
              <a:srgbClr val="E9E9E4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4892040"/>
            <a:ext cx="137160" cy="1051560"/>
          </a:xfrm>
          <a:prstGeom prst="rect">
            <a:avLst/>
          </a:prstGeom>
          <a:solidFill>
            <a:srgbClr val="8B2635"/>
          </a:solidFill>
          <a:ln w="12700">
            <a:solidFill>
              <a:srgbClr val="8B2635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5166360"/>
            <a:ext cx="502920" cy="50292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1645920" y="50292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8B26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DENIED</a:t>
            </a:r>
            <a:endParaRPr lang="en-US" sz="2000" dirty="0"/>
          </a:p>
        </p:txBody>
      </p:sp>
      <p:sp>
        <p:nvSpPr>
          <p:cNvPr id="23" name="Text 18"/>
          <p:cNvSpPr/>
          <p:nvPr/>
        </p:nvSpPr>
        <p:spPr>
          <a:xfrm>
            <a:off x="1645920" y="54406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SRI &gt; 60</a:t>
            </a:r>
            <a:endParaRPr lang="en-US" sz="1300" dirty="0"/>
          </a:p>
        </p:txBody>
      </p:sp>
      <p:sp>
        <p:nvSpPr>
          <p:cNvPr id="24" name="Text 19"/>
          <p:cNvSpPr/>
          <p:nvPr/>
        </p:nvSpPr>
        <p:spPr>
          <a:xfrm>
            <a:off x="4023360" y="4892040"/>
            <a:ext cx="74368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…or any CRITICAL violation · Action blocked</a:t>
            </a:r>
            <a:endParaRPr lang="en-US" sz="1400" dirty="0"/>
          </a:p>
        </p:txBody>
      </p:sp>
      <p:sp>
        <p:nvSpPr>
          <p:cNvPr id="25" name="Text 20"/>
          <p:cNvSpPr/>
          <p:nvPr/>
        </p:nvSpPr>
        <p:spPr>
          <a:xfrm>
            <a:off x="548640" y="60350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Critical-severity policies always require human approval. The LLM cannot override them.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76072"/>
            <a:ext cx="100584" cy="676656"/>
          </a:xfrm>
          <a:prstGeom prst="rect">
            <a:avLst/>
          </a:prstGeom>
          <a:solidFill>
            <a:srgbClr val="2F3E46"/>
          </a:solidFill>
          <a:ln w="12700">
            <a:solidFill>
              <a:srgbClr val="2F3E4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50292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Architecturally different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64465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RuriSkry · Confidential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185855" y="64465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3515258" cy="4114800"/>
          </a:xfrm>
          <a:prstGeom prst="rect">
            <a:avLst/>
          </a:prstGeom>
          <a:solidFill>
            <a:srgbClr val="E9E9E4"/>
          </a:solidFill>
          <a:ln w="12700">
            <a:solidFill>
              <a:srgbClr val="E9E9E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828800"/>
            <a:ext cx="3515258" cy="91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240280"/>
            <a:ext cx="640080" cy="6400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14400" y="3017520"/>
            <a:ext cx="278373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LLM as decision-maker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914400" y="3886200"/>
            <a:ext cx="278373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tools use the LLM to explain a rule-based verdict. RuriSkry lets the LLM adjust the verdict within a bounded range — with a hard clamp that prevents hallucination from dominating.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338218" y="1828800"/>
            <a:ext cx="3515258" cy="4114800"/>
          </a:xfrm>
          <a:prstGeom prst="rect">
            <a:avLst/>
          </a:prstGeom>
          <a:solidFill>
            <a:srgbClr val="E9E9E4"/>
          </a:solidFill>
          <a:ln w="12700">
            <a:solidFill>
              <a:srgbClr val="E9E9E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338218" y="1828800"/>
            <a:ext cx="3515258" cy="91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3978" y="2240280"/>
            <a:ext cx="640080" cy="64008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703978" y="3017520"/>
            <a:ext cx="278373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IaC-safe execution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4703978" y="3886200"/>
            <a:ext cx="278373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changes do not execute directly on Azure — Terraform would revert them. They open a pull request against the IaC repo. Governance decides; Terraform executes; humans merge.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8127797" y="1828800"/>
            <a:ext cx="3515258" cy="4114800"/>
          </a:xfrm>
          <a:prstGeom prst="rect">
            <a:avLst/>
          </a:prstGeom>
          <a:solidFill>
            <a:srgbClr val="E9E9E4"/>
          </a:solidFill>
          <a:ln w="12700">
            <a:solidFill>
              <a:srgbClr val="E9E9E4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127797" y="1828800"/>
            <a:ext cx="3515258" cy="91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3557" y="2240280"/>
            <a:ext cx="640080" cy="64008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493557" y="3017520"/>
            <a:ext cx="278373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Audit by default</a:t>
            </a:r>
            <a:endParaRPr lang="en-US" sz="2000" dirty="0"/>
          </a:p>
        </p:txBody>
      </p:sp>
      <p:sp>
        <p:nvSpPr>
          <p:cNvPr id="20" name="Text 15"/>
          <p:cNvSpPr/>
          <p:nvPr/>
        </p:nvSpPr>
        <p:spPr>
          <a:xfrm>
            <a:off x="8493557" y="3886200"/>
            <a:ext cx="278373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verdict, every score adjustment, every human approval — persisted to Cosmos DB. Counterfactual analysis on every decision: what would change this outcome?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76072"/>
            <a:ext cx="100584" cy="676656"/>
          </a:xfrm>
          <a:prstGeom prst="rect">
            <a:avLst/>
          </a:prstGeom>
          <a:solidFill>
            <a:srgbClr val="2F3E46"/>
          </a:solidFill>
          <a:ln w="12700">
            <a:solidFill>
              <a:srgbClr val="2F3E4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50292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it fits in an enterprise stack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64465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RuriSkry · Confidential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185855" y="64465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952348" y="2011680"/>
            <a:ext cx="2194560" cy="1097280"/>
          </a:xfrm>
          <a:prstGeom prst="rect">
            <a:avLst/>
          </a:prstGeom>
          <a:solidFill>
            <a:srgbClr val="E9E9E4"/>
          </a:solidFill>
          <a:ln w="12700">
            <a:solidFill>
              <a:srgbClr val="E9E9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52348" y="201168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Ops Agent</a:t>
            </a:r>
            <a:endParaRPr lang="en-US" sz="16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38348" y="2400300"/>
            <a:ext cx="320040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3649828" y="2011680"/>
            <a:ext cx="2194560" cy="1097280"/>
          </a:xfrm>
          <a:prstGeom prst="rect">
            <a:avLst/>
          </a:prstGeom>
          <a:solidFill>
            <a:srgbClr val="2F3E46"/>
          </a:solidFill>
          <a:ln w="12700">
            <a:solidFill>
              <a:srgbClr val="2F3E4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649828" y="201168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RuriSkry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governance</a:t>
            </a:r>
            <a:endParaRPr lang="en-US" sz="18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5828" y="2400300"/>
            <a:ext cx="320040" cy="3200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347308" y="2011680"/>
            <a:ext cx="2194560" cy="1097280"/>
          </a:xfrm>
          <a:prstGeom prst="rect">
            <a:avLst/>
          </a:prstGeom>
          <a:solidFill>
            <a:srgbClr val="E9E9E4"/>
          </a:solidFill>
          <a:ln w="12700">
            <a:solidFill>
              <a:srgbClr val="E9E9E4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347308" y="201168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IaC / Azure</a:t>
            </a:r>
            <a:endParaRPr lang="en-US" sz="16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400300"/>
            <a:ext cx="320040" cy="320040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9044788" y="2011680"/>
            <a:ext cx="2194560" cy="1097280"/>
          </a:xfrm>
          <a:prstGeom prst="rect">
            <a:avLst/>
          </a:prstGeom>
          <a:solidFill>
            <a:srgbClr val="E9E9E4"/>
          </a:solidFill>
          <a:ln w="12700">
            <a:solidFill>
              <a:srgbClr val="E9E9E4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9044788" y="201168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Change applied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548640" y="3840480"/>
            <a:ext cx="536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Complements, does not replace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548640" y="4297680"/>
            <a:ext cx="536432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Policy, Defender, Advisor </a:t>
            </a:r>
            <a:pPr algn="l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signal sources, not decision layers</a:t>
            </a:r>
            <a:endParaRPr lang="en-US" sz="13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/ CD pipelines </a:t>
            </a:r>
            <a:pPr algn="l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RuriSkry triggers the PR, CI / CD runs it</a:t>
            </a:r>
            <a:endParaRPr lang="en-US" sz="13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human CAB </a:t>
            </a:r>
            <a:pPr algn="l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handles the subset humans don't have bandwidth for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6278728" y="3840480"/>
            <a:ext cx="536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not replace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6278728" y="4297680"/>
            <a:ext cx="536432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and access management (IAM)</a:t>
            </a:r>
            <a:endParaRPr lang="en-US" sz="13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IaC tool of choice (Terraform, Bicep)</a:t>
            </a:r>
            <a:endParaRPr lang="en-US" sz="13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existing change management process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76072"/>
            <a:ext cx="100584" cy="676656"/>
          </a:xfrm>
          <a:prstGeom prst="rect">
            <a:avLst/>
          </a:prstGeom>
          <a:solidFill>
            <a:srgbClr val="2F3E46"/>
          </a:solidFill>
          <a:ln w="12700">
            <a:solidFill>
              <a:srgbClr val="2F3E4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50292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this matters to the business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64465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RuriSkry · Confidential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185855" y="64465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11094415" cy="822960"/>
          </a:xfrm>
          <a:prstGeom prst="rect">
            <a:avLst/>
          </a:prstGeom>
          <a:solidFill>
            <a:srgbClr val="E9E9E4"/>
          </a:solidFill>
          <a:ln w="12700">
            <a:solidFill>
              <a:srgbClr val="E9E9E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874520"/>
            <a:ext cx="548640" cy="548640"/>
          </a:xfrm>
          <a:prstGeom prst="ellipse">
            <a:avLst/>
          </a:prstGeom>
          <a:solidFill>
            <a:srgbClr val="2F3E46"/>
          </a:solidFill>
          <a:ln w="12700">
            <a:solidFill>
              <a:srgbClr val="2F3E46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965960"/>
            <a:ext cx="365760" cy="365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63040" y="173736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Containment of AI-driven incidents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943600" y="1737360"/>
            <a:ext cx="5516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 action pre-scored before it reaches Azure.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48640" y="2651760"/>
            <a:ext cx="11094415" cy="822960"/>
          </a:xfrm>
          <a:prstGeom prst="rect">
            <a:avLst/>
          </a:prstGeom>
          <a:solidFill>
            <a:srgbClr val="F7F7F5"/>
          </a:solidFill>
          <a:ln w="12700">
            <a:solidFill>
              <a:srgbClr val="E9E9E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31520" y="2788920"/>
            <a:ext cx="548640" cy="548640"/>
          </a:xfrm>
          <a:prstGeom prst="ellipse">
            <a:avLst/>
          </a:prstGeom>
          <a:solidFill>
            <a:srgbClr val="2F3E46"/>
          </a:solidFill>
          <a:ln w="12700">
            <a:solidFill>
              <a:srgbClr val="2F3E46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88036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463040" y="265176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Audit-ready on day one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5943600" y="2651760"/>
            <a:ext cx="5516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Cosmos DB lineage — every decision reconstructable from inputs.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548640" y="3566160"/>
            <a:ext cx="11094415" cy="822960"/>
          </a:xfrm>
          <a:prstGeom prst="rect">
            <a:avLst/>
          </a:prstGeom>
          <a:solidFill>
            <a:srgbClr val="E9E9E4"/>
          </a:solidFill>
          <a:ln w="12700">
            <a:solidFill>
              <a:srgbClr val="E9E9E4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731520" y="3703320"/>
            <a:ext cx="548640" cy="548640"/>
          </a:xfrm>
          <a:prstGeom prst="ellipse">
            <a:avLst/>
          </a:prstGeom>
          <a:solidFill>
            <a:srgbClr val="2F3E46"/>
          </a:solidFill>
          <a:ln w="12700">
            <a:solidFill>
              <a:srgbClr val="2F3E46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794760"/>
            <a:ext cx="365760" cy="36576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463040" y="356616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Faster incident response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5943600" y="3566160"/>
            <a:ext cx="5516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Monitor alerts route through the same pipeline; LLM-verified remediation plan in minutes, rollback pre-staged.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548640" y="4480560"/>
            <a:ext cx="11094415" cy="822960"/>
          </a:xfrm>
          <a:prstGeom prst="rect">
            <a:avLst/>
          </a:prstGeom>
          <a:solidFill>
            <a:srgbClr val="F7F7F5"/>
          </a:solidFill>
          <a:ln w="12700">
            <a:solidFill>
              <a:srgbClr val="E9E9E4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731520" y="4617720"/>
            <a:ext cx="548640" cy="548640"/>
          </a:xfrm>
          <a:prstGeom prst="ellipse">
            <a:avLst/>
          </a:prstGeom>
          <a:solidFill>
            <a:srgbClr val="2F3E46"/>
          </a:solidFill>
          <a:ln w="12700">
            <a:solidFill>
              <a:srgbClr val="2F3E46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709160"/>
            <a:ext cx="365760" cy="36576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463040" y="448056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Cost discipline</a:t>
            </a:r>
            <a:endParaRPr lang="en-US" sz="1600" dirty="0"/>
          </a:p>
        </p:txBody>
      </p:sp>
      <p:sp>
        <p:nvSpPr>
          <p:cNvPr id="25" name="Text 19"/>
          <p:cNvSpPr/>
          <p:nvPr/>
        </p:nvSpPr>
        <p:spPr>
          <a:xfrm>
            <a:off x="5943600" y="4480560"/>
            <a:ext cx="5516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agent surfaces waste; governance ensures DR and compliance tags aren't stripped by over-optimisation.</a:t>
            </a:r>
            <a:endParaRPr lang="en-US" sz="1300" dirty="0"/>
          </a:p>
        </p:txBody>
      </p:sp>
      <p:sp>
        <p:nvSpPr>
          <p:cNvPr id="26" name="Shape 20"/>
          <p:cNvSpPr/>
          <p:nvPr/>
        </p:nvSpPr>
        <p:spPr>
          <a:xfrm>
            <a:off x="548640" y="5394960"/>
            <a:ext cx="11094415" cy="822960"/>
          </a:xfrm>
          <a:prstGeom prst="rect">
            <a:avLst/>
          </a:prstGeom>
          <a:solidFill>
            <a:srgbClr val="E9E9E4"/>
          </a:solidFill>
          <a:ln w="12700">
            <a:solidFill>
              <a:srgbClr val="E9E9E4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731520" y="5532120"/>
            <a:ext cx="548640" cy="548640"/>
          </a:xfrm>
          <a:prstGeom prst="ellipse">
            <a:avLst/>
          </a:prstGeom>
          <a:solidFill>
            <a:srgbClr val="2F3E46"/>
          </a:solidFill>
          <a:ln w="12700">
            <a:solidFill>
              <a:srgbClr val="2F3E46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5623560"/>
            <a:ext cx="365760" cy="36576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1463040" y="539496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Compliance evidence</a:t>
            </a:r>
            <a:endParaRPr lang="en-US" sz="1600" dirty="0"/>
          </a:p>
        </p:txBody>
      </p:sp>
      <p:sp>
        <p:nvSpPr>
          <p:cNvPr id="30" name="Text 23"/>
          <p:cNvSpPr/>
          <p:nvPr/>
        </p:nvSpPr>
        <p:spPr>
          <a:xfrm>
            <a:off x="5943600" y="5394960"/>
            <a:ext cx="5516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engine + full lineage supports SOC 2, ISO 27001, and PCI change-control obligations.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76072"/>
            <a:ext cx="100584" cy="676656"/>
          </a:xfrm>
          <a:prstGeom prst="rect">
            <a:avLst/>
          </a:prstGeom>
          <a:solidFill>
            <a:srgbClr val="2F3E46"/>
          </a:solidFill>
          <a:ln w="12700">
            <a:solidFill>
              <a:srgbClr val="2F3E4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50292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Status today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64465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RuriSkry · Confidential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185855" y="64465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3545738" cy="1805940"/>
          </a:xfrm>
          <a:prstGeom prst="rect">
            <a:avLst/>
          </a:prstGeom>
          <a:solidFill>
            <a:srgbClr val="E9E9E4"/>
          </a:solidFill>
          <a:ln w="12700">
            <a:solidFill>
              <a:srgbClr val="E9E9E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737360"/>
            <a:ext cx="73152" cy="18059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011680"/>
            <a:ext cx="502920" cy="5029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08760" y="1965960"/>
            <a:ext cx="2357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source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1508760" y="2423160"/>
            <a:ext cx="235701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licensed · public on GitHub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322978" y="1737360"/>
            <a:ext cx="3545738" cy="1805940"/>
          </a:xfrm>
          <a:prstGeom prst="rect">
            <a:avLst/>
          </a:prstGeom>
          <a:solidFill>
            <a:srgbClr val="E9E9E4"/>
          </a:solidFill>
          <a:ln w="12700">
            <a:solidFill>
              <a:srgbClr val="E9E9E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322978" y="1737360"/>
            <a:ext cx="73152" cy="18059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7298" y="2011680"/>
            <a:ext cx="502920" cy="50292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283098" y="1965960"/>
            <a:ext cx="2357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Azure-native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5283098" y="2423160"/>
            <a:ext cx="235701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Apps · Cosmos DB · AI Search · Key Vault · Resource Graph · Monitor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8097317" y="1737360"/>
            <a:ext cx="3545738" cy="1805940"/>
          </a:xfrm>
          <a:prstGeom prst="rect">
            <a:avLst/>
          </a:prstGeom>
          <a:solidFill>
            <a:srgbClr val="E9E9E4"/>
          </a:solidFill>
          <a:ln w="12700">
            <a:solidFill>
              <a:srgbClr val="E9E9E4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097317" y="1737360"/>
            <a:ext cx="73152" cy="18059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1637" y="2011680"/>
            <a:ext cx="502920" cy="50292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9057437" y="1965960"/>
            <a:ext cx="2357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Production-grade</a:t>
            </a:r>
            <a:endParaRPr lang="en-US" sz="1700" dirty="0"/>
          </a:p>
        </p:txBody>
      </p:sp>
      <p:sp>
        <p:nvSpPr>
          <p:cNvPr id="20" name="Text 15"/>
          <p:cNvSpPr/>
          <p:nvPr/>
        </p:nvSpPr>
        <p:spPr>
          <a:xfrm>
            <a:off x="9057437" y="2423160"/>
            <a:ext cx="235701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1,000+ test suite · deployed end-to-end · live Azure topology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548640" y="3771900"/>
            <a:ext cx="3545738" cy="1805940"/>
          </a:xfrm>
          <a:prstGeom prst="rect">
            <a:avLst/>
          </a:prstGeom>
          <a:solidFill>
            <a:srgbClr val="E9E9E4"/>
          </a:solidFill>
          <a:ln w="12700">
            <a:solidFill>
              <a:srgbClr val="E9E9E4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548640" y="3771900"/>
            <a:ext cx="73152" cy="18059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046220"/>
            <a:ext cx="502920" cy="50292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508760" y="4000500"/>
            <a:ext cx="2357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Fully async</a:t>
            </a:r>
            <a:endParaRPr lang="en-US" sz="1700" dirty="0"/>
          </a:p>
        </p:txBody>
      </p:sp>
      <p:sp>
        <p:nvSpPr>
          <p:cNvPr id="25" name="Text 19"/>
          <p:cNvSpPr/>
          <p:nvPr/>
        </p:nvSpPr>
        <p:spPr>
          <a:xfrm>
            <a:off x="1508760" y="4457700"/>
            <a:ext cx="235701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agents · parallel orchestration · sub-10-second verdicts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322978" y="3771900"/>
            <a:ext cx="3545738" cy="1805940"/>
          </a:xfrm>
          <a:prstGeom prst="rect">
            <a:avLst/>
          </a:prstGeom>
          <a:solidFill>
            <a:srgbClr val="E9E9E4"/>
          </a:solidFill>
          <a:ln w="12700">
            <a:solidFill>
              <a:srgbClr val="E9E9E4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4322978" y="3771900"/>
            <a:ext cx="73152" cy="18059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7298" y="4046220"/>
            <a:ext cx="502920" cy="50292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5283098" y="4000500"/>
            <a:ext cx="2357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Dashboard included</a:t>
            </a:r>
            <a:endParaRPr lang="en-US" sz="1700" dirty="0"/>
          </a:p>
        </p:txBody>
      </p:sp>
      <p:sp>
        <p:nvSpPr>
          <p:cNvPr id="30" name="Text 23"/>
          <p:cNvSpPr/>
          <p:nvPr/>
        </p:nvSpPr>
        <p:spPr>
          <a:xfrm>
            <a:off x="5283098" y="4457700"/>
            <a:ext cx="235701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6-page React UI · SSE-streamed · enterprise design system</a:t>
            </a:r>
            <a:endParaRPr lang="en-US" sz="1200" dirty="0"/>
          </a:p>
        </p:txBody>
      </p:sp>
      <p:sp>
        <p:nvSpPr>
          <p:cNvPr id="31" name="Shape 24"/>
          <p:cNvSpPr/>
          <p:nvPr/>
        </p:nvSpPr>
        <p:spPr>
          <a:xfrm>
            <a:off x="8097317" y="3771900"/>
            <a:ext cx="3545738" cy="1805940"/>
          </a:xfrm>
          <a:prstGeom prst="rect">
            <a:avLst/>
          </a:prstGeom>
          <a:solidFill>
            <a:srgbClr val="E9E9E4"/>
          </a:solidFill>
          <a:ln w="12700">
            <a:solidFill>
              <a:srgbClr val="E9E9E4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8097317" y="3771900"/>
            <a:ext cx="73152" cy="18059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71637" y="4046220"/>
            <a:ext cx="502920" cy="502920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9057437" y="4000500"/>
            <a:ext cx="2357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One-command deploy</a:t>
            </a:r>
            <a:endParaRPr lang="en-US" sz="1700" dirty="0"/>
          </a:p>
        </p:txBody>
      </p:sp>
      <p:sp>
        <p:nvSpPr>
          <p:cNvPr id="35" name="Text 27"/>
          <p:cNvSpPr/>
          <p:nvPr/>
        </p:nvSpPr>
        <p:spPr>
          <a:xfrm>
            <a:off x="9057437" y="4457700"/>
            <a:ext cx="235701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+ Container Apps + Static Web App in a single script</a:t>
            </a:r>
            <a:endParaRPr lang="en-US" sz="1200" dirty="0"/>
          </a:p>
        </p:txBody>
      </p:sp>
      <p:sp>
        <p:nvSpPr>
          <p:cNvPr id="36" name="Text 28"/>
          <p:cNvSpPr/>
          <p:nvPr/>
        </p:nvSpPr>
        <p:spPr>
          <a:xfrm>
            <a:off x="548640" y="58521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Originally built for the Microsoft AI Dev Days Hackathon 2026 (Feb – Mar 2026). Since matured into production-capable governance infrastructure.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76072"/>
            <a:ext cx="100584" cy="676656"/>
          </a:xfrm>
          <a:prstGeom prst="rect">
            <a:avLst/>
          </a:prstGeom>
          <a:solidFill>
            <a:srgbClr val="2F3E46"/>
          </a:solidFill>
          <a:ln w="12700">
            <a:solidFill>
              <a:srgbClr val="2F3E4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50292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Roadmap — what is next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64465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RuriSkry · Confidential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185855" y="64465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architectural gaps surfaced from early external review. Both land in the next phase.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286000"/>
            <a:ext cx="5364328" cy="3657600"/>
          </a:xfrm>
          <a:prstGeom prst="rect">
            <a:avLst/>
          </a:prstGeom>
          <a:solidFill>
            <a:srgbClr val="E9E9E4"/>
          </a:solidFill>
          <a:ln w="12700">
            <a:solidFill>
              <a:srgbClr val="E9E9E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286000"/>
            <a:ext cx="5364328" cy="91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06040"/>
            <a:ext cx="594360" cy="59436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14400" y="3337560"/>
            <a:ext cx="4632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Evidence-aware scoring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914400" y="3886200"/>
            <a:ext cx="4632808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Proposer-side confidence becomes a first-class scoring input. Low-confidence agent proposals widen the escalation band — even when composite risk is low. Raises the bar for auto-approval without lowering throughput for confident calls.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278728" y="2286000"/>
            <a:ext cx="5364328" cy="3657600"/>
          </a:xfrm>
          <a:prstGeom prst="rect">
            <a:avLst/>
          </a:prstGeom>
          <a:solidFill>
            <a:srgbClr val="E9E9E4"/>
          </a:solidFill>
          <a:ln w="12700">
            <a:solidFill>
              <a:srgbClr val="E9E9E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278728" y="2286000"/>
            <a:ext cx="5364328" cy="91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4488" y="2606040"/>
            <a:ext cx="594360" cy="59436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644488" y="3337560"/>
            <a:ext cx="4632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Conditional approvals</a:t>
            </a:r>
            <a:endParaRPr lang="en-US" sz="2000" dirty="0"/>
          </a:p>
        </p:txBody>
      </p:sp>
      <p:sp>
        <p:nvSpPr>
          <p:cNvPr id="16" name="Text 12"/>
          <p:cNvSpPr/>
          <p:nvPr/>
        </p:nvSpPr>
        <p:spPr>
          <a:xfrm>
            <a:off x="6644488" y="3886200"/>
            <a:ext cx="4632808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Verdicts move beyond Approve / Escalate / Deny toward structured conditions:</a:t>
            </a:r>
            <a:endParaRPr lang="en-US" sz="13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window required</a:t>
            </a:r>
            <a:endParaRPr lang="en-US" sz="13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Canary rollout required</a:t>
            </a:r>
            <a:endParaRPr lang="en-US" sz="13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 pre-staged</a:t>
            </a:r>
            <a:endParaRPr lang="en-US" sz="13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approver required</a:t>
            </a:r>
            <a:endParaRPr lang="en-US" sz="13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3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Execution Gateway enforces each condition before anything reaches Azure.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76072"/>
            <a:ext cx="100584" cy="676656"/>
          </a:xfrm>
          <a:prstGeom prst="rect">
            <a:avLst/>
          </a:prstGeom>
          <a:solidFill>
            <a:srgbClr val="2F3E46"/>
          </a:solidFill>
          <a:ln w="12700">
            <a:solidFill>
              <a:srgbClr val="2F3E4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50292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thesis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64465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RuriSkry · Confidential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185855" y="64465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05840" y="1828800"/>
            <a:ext cx="1097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14000" dirty="0"/>
          </a:p>
        </p:txBody>
      </p:sp>
      <p:sp>
        <p:nvSpPr>
          <p:cNvPr id="7" name="Text 5"/>
          <p:cNvSpPr/>
          <p:nvPr/>
        </p:nvSpPr>
        <p:spPr>
          <a:xfrm>
            <a:off x="2286000" y="2103120"/>
            <a:ext cx="8808415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i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autonomous system in the enterprise eventually acquires a governance layer. For infrastructure AI, that layer is missing today — and will be required procurement in eighteen months.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2286000" y="4572000"/>
            <a:ext cx="8808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RuriSkry is a working reference implementation of what that layer looks like on Azure. Open source, because the pattern matters more than the product. Azure-native, because that is where we work. Production-grade, because anything less does not count.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F3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188720"/>
            <a:ext cx="1219169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0" y="237744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 I would like to explore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71600" y="3108960"/>
            <a:ext cx="94484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“Where does this fit against what we are doing with AI agents internally?”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371600" y="3703320"/>
            <a:ext cx="94484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“Is the CAB pattern something we should productise further?”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371600" y="4297680"/>
            <a:ext cx="94484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“Is there a fit with customers starting to deploy AI agents?”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638648" y="5166360"/>
            <a:ext cx="914400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548640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github.com/psc0des/ruriskry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RuriSkry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RuriSkry — An AI Change Advisory Board for Autonomous Cloud Agents</dc:title>
  <dc:subject>Executive briefing</dc:subject>
  <dc:creator>RuriSkry</dc:creator>
  <cp:lastModifiedBy>RuriSkry</cp:lastModifiedBy>
  <cp:revision>1</cp:revision>
  <dcterms:created xsi:type="dcterms:W3CDTF">2026-04-23T18:00:25Z</dcterms:created>
  <dcterms:modified xsi:type="dcterms:W3CDTF">2026-04-23T18:00:25Z</dcterms:modified>
</cp:coreProperties>
</file>